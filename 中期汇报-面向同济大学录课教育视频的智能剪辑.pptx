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37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37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研究背景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37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37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问题与需求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在线课程与混合教学快速增长，课程视频规模显著扩大。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人工剪辑依赖经验，耗时长、标准不一致、可复用性弱。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课堂视频包含学生提问、静默、走动、翻页等复杂干扰。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需要形成可解释、低成本、可落地的自动化剪辑流程。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37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文献与工程启发（上传文档与项目调研）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文档系统梳理了教学视频切分与多模态分析研究脉络。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参考 MOOC 分段、语音分离、视频编辑自动化相关工作。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结合 WhisperX/YOLO/OpenCV/FFmpeg 等工具实践。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本项目聚焦教育场景实用性，强调输出质量与稳定性。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37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417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417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研究方案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417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417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总体技术路线（5步流水线）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Step1视觉：教师在场 + 全屏PPT检测 + OCR + 翻页检测。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Step2音频：ASR转写 + 术语纠错 + 教师/学生区分。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Step3文本：语义边界检测 + 知识点命名。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Step4对齐：多模态统一时间轴，形成可检索索引。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Step5融合剪辑：干扰剔除 + 视频切割 + 索引导出。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417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实现原则与工程约束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run_all.py固定编排5步，支持全量、单视频、断点续跑。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参数集中在 config.py，便于复现实验与跨课程迁移。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强调CPU可运行，避免高成本GPU依赖。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每步输出JSON中间结果，保证流程可观测与可追踪。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417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288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288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工作进展（1/5）：视觉分析 Step1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288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288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按 VISUAL_SAMPLE_FPS 采样，建立逐秒视觉特征。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背景减除估计讲台运动，判定教师在场。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低运动时引入HOG静止补偿，降低静态授课漏检。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仅在全屏PPT段执行翻页+OCR，并在段末固化一次内容。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SSIM触发翻页检测，减少无效OCR调用与噪声。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288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工具：OpenCV(MOG2/SSIM/HOG) + EasyOCR。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输出：visual_features.json（teacher_timeline/slide_transitions/ppt_content）。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新增 static_person_detected 字段，教师在场识别更稳。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全屏段单次记录策略提升PPT文本语义一致性。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288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5A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5A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工作进展（2/5）：语音分析 Step2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5A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5A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ffmpeg提取16kHz单声道，faster-whisper执行ASR。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加入术语词典+拼音模糊纠错，修正常见学科误识别。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融合文本+声学构建片段级教师概率。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声纹辅助复判将边界片段学生→教师回标。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高no_speech_prob启用文本兜底，减少有效短句丢失。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5A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工具：ffmpeg + faster-whisper + librosa + scikit-learn。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输出：audio_features.json（segments/speaker/teacher_prob/confidence）。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教师讲授主线连续性更好，问答片段区分更稳定。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纠错结果可追踪（text_raw/text_correction）。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5A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3F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3F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工作进展（3/5）：文本语义分析 Step3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3F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3F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文本归一化、替换、分词与停用词过滤。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构建TF-IDF向量，滑窗余弦距离定位语义边界。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融合幻灯片切换时刻做辅助候选，提升边界召回。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施加最短/最长时长约束，抑制过切分与超长段。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标题改为“关键词直接命名”，突出知识点语义。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3F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工具：jieba + NumPy。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输出：text_features.json（knowledge_segments/boundaries）。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知识点标题可读性提升，便于检索与复习。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可接入 train 边界模型继续细化分段。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3F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4C8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4C8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工作进展（4/5）：多模态对齐 Step4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4C8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4C8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以1秒分辨率构建统一时间轴（TIME_RESOLUTION）。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融合视觉（教师/PPT）、音频（说话人/静默）、文本（知识点）。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每个时刻点形成可解释状态，支撑后续规则/模型。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统计教师在场率、静默率、知识点数量、翻页次数。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4C8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工具：Python原生结构 + bisect时序检索。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输出：multimodal_index.json（time_series + stats）。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把离散模态特征统一到同一决策底座。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为Step5干扰检测与剪辑提供稳定输入。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4C8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407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407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工作进展（5/5）：融合剪辑 Step5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407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407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按教师缺席率、静默占比、连续静默识别干扰。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动态阈值随课程统计特征自适应调节。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融合训练模型预测，实现规则+模型联合判别。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过滤重叠/过短段后生成命令并调用ffmpeg切片。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final_index统一H:MM:SS并记录“干扰片段(not_exported)”。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407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工具：ffmpeg（copy失败自动回退重编码）。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输出：segments/*.mp4 + final_index.json。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导出内容聚焦知识点，噪声段不导出但可审计。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标题去“知识点N-”前缀，文件名更自然。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407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398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398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阶段性成果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398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398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已完成系统能力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形成“视觉-音频-文本-对齐-剪辑”闭环流水线。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每步具备可执行脚本、可观测JSON、可调参数。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支持 run_all.py 一键处理、分步运行、断点续跑。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训练接口已打通，可持续迭代优化。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398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工程化沉淀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配置集中管理，跨课程迁移成本低。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模型缺失时自动回退规则路径，保障可用性。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输出结构标准化，便于评估、可视化与检索接入。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整体满足CPU低成本部署目标。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398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44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44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本项目创新点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44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44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方法层创新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教师检测采用“运动+静止补偿”联合策略。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仅在全屏PPT段执行OCR/翻页，提升信息纯度。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ASR后置拼音模糊术语纠错，贴合中文课堂语境。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说话人采用片段概率判别+声纹复判降低误判。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语义跳变+视觉翻页联合边界检测增强鲁棒性。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44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系统层创新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规则与学习模型可插拔联合，工程弹性高。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中间结果全量可追踪，便于答辩展示与误差定位。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干扰片段“保留索引不导出视频”，兼顾质量与审计。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时间格式与命名规范化，便于二次开发。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44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507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507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遇到的关键问题与解决方案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507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507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关键问题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静态授课场景下教师容易被误判缺席。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ASR在专业术语上出现系统性同音误识别。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课堂噪声与插话引起说话人标签抖动。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固定阈值跨课程泛化不稳。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短片段与干扰重叠导致输出质量下降。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507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解决方案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引入HOG静止检测与全屏PPT在场先验。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步骤2加入词典驱动拼音纠错并记录替换明细。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上下文平滑+声纹边界复判提升标签稳定性。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Step5动态阈值依据静默率/翻页密度自适应调节。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最短时长与重叠过滤+双路径切片保障输出。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507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12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03504"/>
            <a:ext cx="12191695" cy="91440"/>
          </a:xfrm>
          <a:prstGeom prst="rect">
            <a:avLst/>
          </a:prstGeom>
          <a:solidFill>
            <a:srgbClr val="318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94944"/>
            <a:ext cx="164592" cy="5980176"/>
          </a:xfrm>
          <a:prstGeom prst="rect">
            <a:avLst/>
          </a:prstGeom>
          <a:solidFill>
            <a:srgbClr val="318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675120"/>
            <a:ext cx="12024360" cy="54864"/>
          </a:xfrm>
          <a:prstGeom prst="rect">
            <a:avLst/>
          </a:prstGeom>
          <a:solidFill>
            <a:srgbClr val="D4E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0" y="5486400"/>
            <a:ext cx="1554480" cy="155448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27080" y="5715000"/>
            <a:ext cx="1097280" cy="1097280"/>
          </a:xfrm>
          <a:prstGeom prst="ellipse">
            <a:avLst/>
          </a:prstGeom>
          <a:solidFill>
            <a:srgbClr val="D6E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0584"/>
            <a:ext cx="8138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训练框架解释（train.py）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91440"/>
            <a:ext cx="3749039" cy="384048"/>
          </a:xfrm>
          <a:prstGeom prst="roundRect">
            <a:avLst/>
          </a:prstGeom>
          <a:solidFill>
            <a:srgbClr val="1E4079"/>
          </a:solidFill>
          <a:ln>
            <a:solidFill>
              <a:srgbClr val="4F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55448"/>
            <a:ext cx="3520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DDE8F7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84280" y="731520"/>
            <a:ext cx="713232" cy="384048"/>
          </a:xfrm>
          <a:prstGeom prst="roundRect">
            <a:avLst/>
          </a:prstGeom>
          <a:solidFill>
            <a:srgbClr val="318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786384"/>
            <a:ext cx="713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877824"/>
            <a:ext cx="5650992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877824"/>
            <a:ext cx="5650992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005840"/>
            <a:ext cx="128016" cy="128016"/>
          </a:xfrm>
          <a:prstGeom prst="ellipse">
            <a:avLst/>
          </a:prstGeom>
          <a:solidFill>
            <a:srgbClr val="318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950976"/>
            <a:ext cx="528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train 的功能与流程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1371600"/>
            <a:ext cx="5340096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读取标注并规范时间；支持“仅标知识点”模式。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基于 multimodal_index 提取时序特征矩阵。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生成边界标签与干扰标签两类监督信号。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训练并保存RandomForest边界/干扰模型到models/。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支持单视频、批量训练与独立评估。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877824"/>
            <a:ext cx="5504688" cy="5650992"/>
          </a:xfrm>
          <a:prstGeom prst="roundRect">
            <a:avLst/>
          </a:prstGeom>
          <a:solidFill>
            <a:srgbClr val="FFFFFF"/>
          </a:solidFill>
          <a:ln>
            <a:solidFill>
              <a:srgbClr val="D4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877824"/>
            <a:ext cx="5504688" cy="420624"/>
          </a:xfrm>
          <a:prstGeom prst="rect">
            <a:avLst/>
          </a:prstGeom>
          <a:solidFill>
            <a:srgbClr val="EC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005840"/>
            <a:ext cx="128016" cy="128016"/>
          </a:xfrm>
          <a:prstGeom prst="ellipse">
            <a:avLst/>
          </a:prstGeom>
          <a:solidFill>
            <a:srgbClr val="318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950976"/>
            <a:ext cx="513892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2954"/>
                </a:solidFill>
                <a:latin typeface="Microsoft YaHei"/>
              </a:defRPr>
            </a:pPr>
            <a:r>
              <a:t>如何在项目中发挥作用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371600"/>
            <a:ext cx="5193792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Step3调用 predict_boundaries 细化规则边界。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Step5调用 predict_interference 强化干扰识别。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形成“规则保底 + 训练增益”的闭环。</a:t>
            </a:r>
          </a:p>
          <a:p>
            <a:pPr>
              <a:defRPr sz="1300" b="0">
                <a:solidFill>
                  <a:srgbClr val="222831"/>
                </a:solidFill>
                <a:latin typeface="Microsoft YaHei"/>
              </a:defRPr>
            </a:pPr>
            <a:r>
              <a:t>• 随标注积累持续提升跨课堂泛化与稳定性。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950976"/>
            <a:ext cx="54864" cy="5449824"/>
          </a:xfrm>
          <a:prstGeom prst="rect">
            <a:avLst/>
          </a:prstGeom>
          <a:solidFill>
            <a:srgbClr val="E4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3218688"/>
            <a:ext cx="201168" cy="201168"/>
          </a:xfrm>
          <a:prstGeom prst="ellipse">
            <a:avLst/>
          </a:prstGeom>
          <a:solidFill>
            <a:srgbClr val="318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